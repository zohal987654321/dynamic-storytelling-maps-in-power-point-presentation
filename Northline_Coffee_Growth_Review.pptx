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F46BA6E-1735-3827-3E24-59807D8219C7}">
          <p14:sldIdLst>
            <p14:sldId id="256"/>
          </p14:sldIdLst>
        </p14:section>
        <p14:section name="Growth" id="{FB55C6EC-E974-8003-126F-4AEA7C9DBAF7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2418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3B2418"/>
                </a:solidFill>
                <a:latin typeface="+mn-lt"/>
              </a:rPr>
              <a:t>Total revenue by state, Jan 2024 – Sep 2026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C8803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8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BC2-4794-95B6-BAB86C9C1FE9}"/>
              </c:ext>
            </c:extLst>
          </c:dPt>
          <c:dPt>
            <c:idx val="1"/>
            <c:invertIfNegative val="0"/>
            <c:bubble3D val="0"/>
            <c:spPr>
              <a:solidFill>
                <a:srgbClr val="C88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C2-4794-95B6-BAB86C9C1FE9}"/>
              </c:ext>
            </c:extLst>
          </c:dPt>
          <c:dPt>
            <c:idx val="2"/>
            <c:invertIfNegative val="0"/>
            <c:bubble3D val="0"/>
            <c:spPr>
              <a:solidFill>
                <a:srgbClr val="D9B4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BC2-4794-95B6-BAB86C9C1FE9}"/>
              </c:ext>
            </c:extLst>
          </c:dPt>
          <c:dPt>
            <c:idx val="3"/>
            <c:invertIfNegative val="0"/>
            <c:bubble3D val="0"/>
            <c:spPr>
              <a:solidFill>
                <a:srgbClr val="D9B4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BC2-4794-95B6-BAB86C9C1FE9}"/>
              </c:ext>
            </c:extLst>
          </c:dPt>
          <c:dPt>
            <c:idx val="4"/>
            <c:invertIfNegative val="0"/>
            <c:bubble3D val="0"/>
            <c:spPr>
              <a:solidFill>
                <a:srgbClr val="D9B4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BC2-4794-95B6-BAB86C9C1FE9}"/>
              </c:ext>
            </c:extLst>
          </c:dPt>
          <c:dPt>
            <c:idx val="5"/>
            <c:invertIfNegative val="0"/>
            <c:bubble3D val="0"/>
            <c:spPr>
              <a:solidFill>
                <a:srgbClr val="D9B4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BC2-4794-95B6-BAB86C9C1FE9}"/>
              </c:ext>
            </c:extLst>
          </c:dPt>
          <c:dPt>
            <c:idx val="6"/>
            <c:invertIfNegative val="0"/>
            <c:bubble3D val="0"/>
            <c:spPr>
              <a:solidFill>
                <a:srgbClr val="D9B4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BC2-4794-95B6-BAB86C9C1FE9}"/>
              </c:ext>
            </c:extLst>
          </c:dPt>
          <c:dPt>
            <c:idx val="7"/>
            <c:invertIfNegative val="0"/>
            <c:bubble3D val="0"/>
            <c:spPr>
              <a:solidFill>
                <a:srgbClr val="D9B4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BC2-4794-95B6-BAB86C9C1FE9}"/>
              </c:ext>
            </c:extLst>
          </c:dPt>
          <c:dLbls>
            <c:numFmt formatCode="\$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B2418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ACT</c:v>
                </c:pt>
                <c:pt idx="1">
                  <c:v>NSW</c:v>
                </c:pt>
                <c:pt idx="2">
                  <c:v>VIC</c:v>
                </c:pt>
                <c:pt idx="3">
                  <c:v>QLD</c:v>
                </c:pt>
                <c:pt idx="4">
                  <c:v>SA</c:v>
                </c:pt>
                <c:pt idx="5">
                  <c:v>WA</c:v>
                </c:pt>
                <c:pt idx="6">
                  <c:v>TAS</c:v>
                </c:pt>
                <c:pt idx="7">
                  <c:v>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4.8</c:v>
                </c:pt>
                <c:pt idx="1">
                  <c:v>4.3</c:v>
                </c:pt>
                <c:pt idx="2">
                  <c:v>3.11</c:v>
                </c:pt>
                <c:pt idx="3">
                  <c:v>2.12</c:v>
                </c:pt>
                <c:pt idx="4">
                  <c:v>0.86</c:v>
                </c:pt>
                <c:pt idx="5">
                  <c:v>0.61</c:v>
                </c:pt>
                <c:pt idx="6">
                  <c:v>0.23</c:v>
                </c:pt>
                <c:pt idx="7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BC2-4794-95B6-BAB86C9C1F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B241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026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This review covers store growth from January 2024 to September 2026. All figures are fictional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video. Canberra opens first in 2024, then Sydney, Melbourne and Brisbane, and by mid 2026 every state and territory has at least one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Totals favour older states because they have traded longer. A fair comparison uses revenue per store per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rgbClr val="3B2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D9B48F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B48F"/>
                </a:solidFill>
              </a:rPr>
              <a:t>Fictional sample data for demonstration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6A55"/>
                </a:solidFill>
              </a:rPr>
              <a:t>Northline Coffee · Fictional sample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6A5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 only">
    <p:bg>
      <p:bgPr>
        <a:solidFill>
          <a:srgbClr val="3B2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9B48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6A5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Northline Coffee growth review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9B48F"/>
                </a:solidFill>
              </a:rPr>
              <a:t>January 2024 – September 2026 · Board meeting,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city to every state in under three years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9253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Bar height = monthly revenue · colour = state · press play</a:t>
            </a:r>
            <a:endParaRPr lang="en-US" sz="1200" dirty="0"/>
          </a:p>
        </p:txBody>
      </p:sp>
      <p:sp>
        <p:nvSpPr>
          <p:cNvPr id="5" name="Stat card 1"/>
          <p:cNvSpPr/>
          <p:nvPr/>
        </p:nvSpPr>
        <p:spPr>
          <a:xfrm>
            <a:off x="8778240" y="1417320"/>
            <a:ext cx="28346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006840" y="1554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stores open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8778240" y="2953512"/>
            <a:ext cx="28346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006840" y="30906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3776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states and territories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8778240" y="4489704"/>
            <a:ext cx="28346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006840" y="462686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$16.1M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53126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revenue, Jan 2024 – Sep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6A5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68"/>
    </mc:Choice>
    <mc:Fallback>
      <p:transition spd="slow" advTm="446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 and NSW still earn over half of revenue</a:t>
            </a:r>
            <a:endParaRPr lang="en-US" sz="3200" dirty="0"/>
          </a:p>
        </p:txBody>
      </p:sp>
      <p:graphicFrame>
        <p:nvGraphicFramePr>
          <p:cNvPr id="3" name="Revenue by state chart"/>
          <p:cNvGraphicFramePr/>
          <p:nvPr/>
        </p:nvGraphicFramePr>
        <p:xfrm>
          <a:off x="548640" y="1371600"/>
          <a:ext cx="72237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ommentary card"/>
          <p:cNvSpPr/>
          <p:nvPr/>
        </p:nvSpPr>
        <p:spPr>
          <a:xfrm>
            <a:off x="813816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41248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2514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of all revenue comes from the ACT and NSW, where the first stores opened.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37033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Newer states opened in late 2025 and 2026, so they have had only a few months to trade.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Compare them on revenue per store per month, not total revenue.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6A5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thline Roast">
  <a:themeElements>
    <a:clrScheme name="Northline Roast">
      <a:dk1>
        <a:srgbClr val="2A1A12"/>
      </a:dk1>
      <a:lt1>
        <a:srgbClr val="FFFFFF"/>
      </a:lt1>
      <a:dk2>
        <a:srgbClr val="3B2418"/>
      </a:dk2>
      <a:lt2>
        <a:srgbClr val="F4EEE9"/>
      </a:lt2>
      <a:accent1>
        <a:srgbClr val="C8803A"/>
      </a:accent1>
      <a:accent2>
        <a:srgbClr val="1F3A5F"/>
      </a:accent2>
      <a:accent3>
        <a:srgbClr val="7A9E7E"/>
      </a:accent3>
      <a:accent4>
        <a:srgbClr val="B5533C"/>
      </a:accent4>
      <a:accent5>
        <a:srgbClr val="8C6A55"/>
      </a:accent5>
      <a:accent6>
        <a:srgbClr val="D9B48F"/>
      </a:accent6>
      <a:hlink>
        <a:srgbClr val="1F3A5F"/>
      </a:hlink>
      <a:folHlink>
        <a:srgbClr val="8C6A55"/>
      </a:folHlink>
    </a:clrScheme>
    <a:fontScheme name="Northline Roa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204</Words>
  <Application>Microsoft Office PowerPoint</Application>
  <PresentationFormat>Widescreen</PresentationFormat>
  <Paragraphs>24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Northline Roast</vt:lpstr>
      <vt:lpstr>Northline Coffee growth review</vt:lpstr>
      <vt:lpstr>From one city to every state in under three years</vt:lpstr>
      <vt:lpstr>The ACT and NSW still earn over half of revenue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Northline Coffee growth review</dc:title>
  <dc:subject>PptxGenJS Presentation</dc:subject>
  <dc:creator>Zohal Zahir</dc:creator>
  <cp:lastModifiedBy>Zohal Zahir</cp:lastModifiedBy>
  <cp:revision>2</cp:revision>
  <dcterms:created xsi:type="dcterms:W3CDTF">2026-10-25T05:49:50Z</dcterms:created>
  <dcterms:modified xsi:type="dcterms:W3CDTF">2026-10-25T09:46:43Z</dcterms:modified>
</cp:coreProperties>
</file>